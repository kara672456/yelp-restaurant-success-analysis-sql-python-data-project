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72" r:id="rId4"/>
    <p:sldId id="256" r:id="rId5"/>
    <p:sldId id="257" r:id="rId6"/>
    <p:sldId id="259" r:id="rId7"/>
    <p:sldId id="260" r:id="rId8"/>
    <p:sldId id="261" r:id="rId9"/>
    <p:sldId id="262" r:id="rId10"/>
    <p:sldId id="263"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5B54"/>
    <a:srgbClr val="B22020"/>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78" d="100"/>
          <a:sy n="78" d="100"/>
        </p:scale>
        <p:origin x="878" y="7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0204E-4C40-6421-C0C1-9BBB82BFE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E49B3-AC76-1D38-C44C-C6AA1A2D40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31DA71-E3A5-69BF-53F7-F292DAD523A4}"/>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1413D959-F572-3EB4-E8D9-C55CAF06F2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C0D139-0377-BAAD-EE02-6B8F1676AEF9}"/>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666212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D472-D03F-44AB-5DD1-2D55C843E3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FA125E-50C9-2710-6EDA-811EB896B5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0FC271-F1AE-95D7-2751-ED5B0B6AC5B4}"/>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940C4AF4-8EED-A58E-758B-B880A209A0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5785C6-7A80-00BA-A77F-D39D64610244}"/>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1245614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D8C4-B448-8A2A-34DC-433D7445DD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292FB1-4DEC-8672-67FC-93652E6031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C84A6-82C9-E2F8-EABA-7A658B0EAC8F}"/>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FA615EE7-E8D6-ABD5-14A0-3BF245C429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C1D95D-6B6B-E7D7-8B54-0DF54416C801}"/>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476280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D1AD-2EFE-7AA5-0924-1EEA2BF4C5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CBC7F3-F739-528D-A38A-8E61612C9E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966534-5089-B5B6-06F1-800D4DB9BC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BEDB995-7D4E-E05E-A2E0-FDDE82A098F4}"/>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6" name="Footer Placeholder 5">
            <a:extLst>
              <a:ext uri="{FF2B5EF4-FFF2-40B4-BE49-F238E27FC236}">
                <a16:creationId xmlns:a16="http://schemas.microsoft.com/office/drawing/2014/main" id="{0D1E6F4E-440D-91D7-5A54-5BC1A46EBA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936D7B-7574-BC72-AA8B-0D09B31966FE}"/>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1268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AC31-08F4-5684-C103-1EA8C4EF0B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DA59AB-9016-51DE-F1C4-F264B9C130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D38EA6-8D06-B7D9-A7FC-FA4CBD4434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D856A8-5086-4D6A-CDC5-C63BC350C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E8FC3F-868D-FFCF-F917-3EC2CD7BE7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79F619-FE8F-B22C-78E0-95054B5DF8DF}"/>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8" name="Footer Placeholder 7">
            <a:extLst>
              <a:ext uri="{FF2B5EF4-FFF2-40B4-BE49-F238E27FC236}">
                <a16:creationId xmlns:a16="http://schemas.microsoft.com/office/drawing/2014/main" id="{32FD4BEA-1E22-6F04-3B51-2888D5BB6EC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0B79B7-020C-3C32-D7D5-7C60FE9740B9}"/>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146238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C4146-48F1-5A60-4DFE-54B1BE84BB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226755-3E55-B36E-8000-36DD849B70FE}"/>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4" name="Footer Placeholder 3">
            <a:extLst>
              <a:ext uri="{FF2B5EF4-FFF2-40B4-BE49-F238E27FC236}">
                <a16:creationId xmlns:a16="http://schemas.microsoft.com/office/drawing/2014/main" id="{7E413883-55B2-04C4-83F0-02940F7D32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EFE7F4-96CA-8D1F-8026-45776C8B59D0}"/>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046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F2FD01-82F2-5DE5-97CC-3068D9C928C8}"/>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3" name="Footer Placeholder 2">
            <a:extLst>
              <a:ext uri="{FF2B5EF4-FFF2-40B4-BE49-F238E27FC236}">
                <a16:creationId xmlns:a16="http://schemas.microsoft.com/office/drawing/2014/main" id="{A88BABBD-A76F-ECA0-3878-844E3EA436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053BE4-77AB-CCB3-2F53-5563FCBEB945}"/>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415445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4650-E5EF-BB16-6D73-286EF54771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00D655-3645-166B-4345-B78059C5A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F070A5-6CAE-3EA5-713F-E826897DE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A20FCD-61F9-A840-DC9A-BAD9089C3EB4}"/>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6" name="Footer Placeholder 5">
            <a:extLst>
              <a:ext uri="{FF2B5EF4-FFF2-40B4-BE49-F238E27FC236}">
                <a16:creationId xmlns:a16="http://schemas.microsoft.com/office/drawing/2014/main" id="{E3658330-90AA-9FE8-127A-077151B404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A4D31A-5989-91DA-AE30-0F20B5C91BF2}"/>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607222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A1AB7-7D26-B8BF-6039-40BA9EBA6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E268C5-6D25-0DA3-DA7B-D24F9CC876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BA574C-1E01-7CE1-717A-FFEE4BEA3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E203A-28D9-B92C-B462-87CA9EE24890}"/>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6" name="Footer Placeholder 5">
            <a:extLst>
              <a:ext uri="{FF2B5EF4-FFF2-40B4-BE49-F238E27FC236}">
                <a16:creationId xmlns:a16="http://schemas.microsoft.com/office/drawing/2014/main" id="{2B546168-4D5A-FCBA-DAB1-EFEF5C7A80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6882AA-E984-1C98-0093-6584FBCE8F23}"/>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372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0075A-2F13-5473-7260-98EDC40AB6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896F59-EACA-6A49-ACCE-6972438311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742182-7B92-246A-A485-D40CBF88025B}"/>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FE161B76-231A-3BD5-AC5A-2311D70CD0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DD1610-0AB8-8646-CC0E-C796ED2EE9CB}"/>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693600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3A4B29-87F4-25E8-2722-8372565468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29C62-3989-1055-3FDC-FFF8C8DBF9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786F40-0274-6C10-3D4A-6540F4AB332D}"/>
              </a:ext>
            </a:extLst>
          </p:cNvPr>
          <p:cNvSpPr>
            <a:spLocks noGrp="1"/>
          </p:cNvSpPr>
          <p:nvPr>
            <p:ph type="dt" sz="half" idx="10"/>
          </p:nvPr>
        </p:nvSpPr>
        <p:spPr/>
        <p:txBody>
          <a:body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2529C72B-3C7A-FD7B-84E1-2F4ECD4DF2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B9FFFF-201F-39DC-3039-0D9B45117727}"/>
              </a:ext>
            </a:extLst>
          </p:cNvPr>
          <p:cNvSpPr>
            <a:spLocks noGrp="1"/>
          </p:cNvSpPr>
          <p:nvPr>
            <p:ph type="sldNum" sz="quarter" idx="12"/>
          </p:nvPr>
        </p:nvSpPr>
        <p:spPr/>
        <p:txBody>
          <a:bodyPr/>
          <a:lstStyle/>
          <a:p>
            <a:fld id="{CA0AA487-57C1-4AA7-9243-4D0DF7DE94BE}" type="slidenum">
              <a:rPr lang="en-IN" smtClean="0"/>
              <a:t>‹#›</a:t>
            </a:fld>
            <a:endParaRPr lang="en-IN"/>
          </a:p>
        </p:txBody>
      </p:sp>
    </p:spTree>
    <p:extLst>
      <p:ext uri="{BB962C8B-B14F-4D97-AF65-F5344CB8AC3E}">
        <p14:creationId xmlns:p14="http://schemas.microsoft.com/office/powerpoint/2010/main" val="326017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74E9F9-E293-544B-4424-E3D0EF3555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F28800-BE66-1F2D-B2AF-E13C344A37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3A5A4-6BCD-E9B3-82CD-423C9A81C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B03AF2-6664-4036-9131-532A6FCA6F63}" type="datetimeFigureOut">
              <a:rPr lang="en-IN" smtClean="0"/>
              <a:t>13-02-2026</a:t>
            </a:fld>
            <a:endParaRPr lang="en-IN"/>
          </a:p>
        </p:txBody>
      </p:sp>
      <p:sp>
        <p:nvSpPr>
          <p:cNvPr id="5" name="Footer Placeholder 4">
            <a:extLst>
              <a:ext uri="{FF2B5EF4-FFF2-40B4-BE49-F238E27FC236}">
                <a16:creationId xmlns:a16="http://schemas.microsoft.com/office/drawing/2014/main" id="{7AD9F6B1-B592-4FAD-C054-F970253DB6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2C5BF09-BD6A-72DB-D013-EFD2233CA0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0AA487-57C1-4AA7-9243-4D0DF7DE94BE}" type="slidenum">
              <a:rPr lang="en-IN" smtClean="0"/>
              <a:t>‹#›</a:t>
            </a:fld>
            <a:endParaRPr lang="en-IN"/>
          </a:p>
        </p:txBody>
      </p:sp>
    </p:spTree>
    <p:extLst>
      <p:ext uri="{BB962C8B-B14F-4D97-AF65-F5344CB8AC3E}">
        <p14:creationId xmlns:p14="http://schemas.microsoft.com/office/powerpoint/2010/main" val="46584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BE9B7B-40A2-FCCE-69B9-007A1B79912B}"/>
              </a:ext>
            </a:extLst>
          </p:cNvPr>
          <p:cNvSpPr txBox="1"/>
          <p:nvPr/>
        </p:nvSpPr>
        <p:spPr>
          <a:xfrm>
            <a:off x="1111045" y="766916"/>
            <a:ext cx="9684774" cy="4524315"/>
          </a:xfrm>
          <a:prstGeom prst="rect">
            <a:avLst/>
          </a:prstGeom>
          <a:noFill/>
        </p:spPr>
        <p:txBody>
          <a:bodyPr wrap="square" rtlCol="0">
            <a:spAutoFit/>
          </a:bodyPr>
          <a:lstStyle/>
          <a:p>
            <a:r>
              <a:rPr lang="fr-FR" sz="7200" dirty="0">
                <a:latin typeface="Arial Black" panose="020B0A04020102020204" pitchFamily="34" charset="0"/>
              </a:rPr>
              <a:t>Yelp Restaurant </a:t>
            </a:r>
            <a:r>
              <a:rPr lang="fr-FR" sz="7200" dirty="0" err="1">
                <a:latin typeface="Arial Black" panose="020B0A04020102020204" pitchFamily="34" charset="0"/>
              </a:rPr>
              <a:t>Analysis</a:t>
            </a:r>
            <a:r>
              <a:rPr lang="fr-FR" sz="7200" dirty="0">
                <a:latin typeface="Arial Black" panose="020B0A04020102020204" pitchFamily="34" charset="0"/>
              </a:rPr>
              <a:t>: User Engagement &amp; </a:t>
            </a:r>
            <a:r>
              <a:rPr lang="fr-FR" sz="7200" dirty="0" err="1">
                <a:latin typeface="Arial Black" panose="020B0A04020102020204" pitchFamily="34" charset="0"/>
              </a:rPr>
              <a:t>Success</a:t>
            </a:r>
            <a:r>
              <a:rPr lang="fr-FR" sz="7200" dirty="0">
                <a:latin typeface="Arial Black" panose="020B0A04020102020204" pitchFamily="34" charset="0"/>
              </a:rPr>
              <a:t> </a:t>
            </a:r>
            <a:r>
              <a:rPr lang="fr-FR" sz="7200" dirty="0" err="1">
                <a:latin typeface="Arial Black" panose="020B0A04020102020204" pitchFamily="34" charset="0"/>
              </a:rPr>
              <a:t>Metrics</a:t>
            </a:r>
            <a:endParaRPr lang="en-IN" sz="7200" dirty="0">
              <a:latin typeface="Arial Black" panose="020B0A04020102020204" pitchFamily="34" charset="0"/>
            </a:endParaRPr>
          </a:p>
        </p:txBody>
      </p:sp>
    </p:spTree>
    <p:extLst>
      <p:ext uri="{BB962C8B-B14F-4D97-AF65-F5344CB8AC3E}">
        <p14:creationId xmlns:p14="http://schemas.microsoft.com/office/powerpoint/2010/main" val="2101063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BF07-1535-9130-A4A1-B52C3F9FA521}"/>
              </a:ext>
            </a:extLst>
          </p:cNvPr>
          <p:cNvSpPr>
            <a:spLocks noGrp="1"/>
          </p:cNvSpPr>
          <p:nvPr>
            <p:ph type="title"/>
          </p:nvPr>
        </p:nvSpPr>
        <p:spPr>
          <a:xfrm>
            <a:off x="838200" y="681037"/>
            <a:ext cx="10515600" cy="1325563"/>
          </a:xfrm>
        </p:spPr>
        <p:txBody>
          <a:bodyPr>
            <a:noAutofit/>
          </a:bodyPr>
          <a:lstStyle/>
          <a:p>
            <a:br>
              <a:rPr lang="en-IN" sz="6600" b="1" dirty="0">
                <a:latin typeface="Arial Black" panose="020B0A04020102020204" pitchFamily="34" charset="0"/>
              </a:rPr>
            </a:br>
            <a:endParaRPr lang="en-IN" sz="6600"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17B6CF5-3DA4-6B52-93AE-77890CEE0FBD}"/>
              </a:ext>
            </a:extLst>
          </p:cNvPr>
          <p:cNvSpPr>
            <a:spLocks noGrp="1"/>
          </p:cNvSpPr>
          <p:nvPr>
            <p:ph idx="1"/>
          </p:nvPr>
        </p:nvSpPr>
        <p:spPr>
          <a:xfrm>
            <a:off x="838200" y="1552909"/>
            <a:ext cx="10355179" cy="3298492"/>
          </a:xfrm>
        </p:spPr>
        <p:txBody>
          <a:bodyPr>
            <a:normAutofit/>
          </a:bodyPr>
          <a:lstStyle/>
          <a:p>
            <a:pPr marL="0" indent="0">
              <a:buNone/>
            </a:pPr>
            <a:r>
              <a:rPr lang="en-US" sz="3200" dirty="0"/>
              <a:t>In a competitive market like the restaurant industry, understanding the factors that influence business success is crucial for stakeholders. Utilizing the Yelp dataset, this project aims to investigate the relationship between user engagement(reviews, tips, and check-ins) and business success metrices (review count, ratings) for restaurants.</a:t>
            </a:r>
            <a:endParaRPr lang="en-IN" sz="3200" dirty="0"/>
          </a:p>
        </p:txBody>
      </p:sp>
      <p:sp>
        <p:nvSpPr>
          <p:cNvPr id="4" name="Rectangle 3">
            <a:extLst>
              <a:ext uri="{FF2B5EF4-FFF2-40B4-BE49-F238E27FC236}">
                <a16:creationId xmlns:a16="http://schemas.microsoft.com/office/drawing/2014/main" id="{06C45AFF-A3C1-68EB-22AA-75003AAD9547}"/>
              </a:ext>
            </a:extLst>
          </p:cNvPr>
          <p:cNvSpPr/>
          <p:nvPr/>
        </p:nvSpPr>
        <p:spPr>
          <a:xfrm>
            <a:off x="838200" y="146075"/>
            <a:ext cx="10355179" cy="132556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b="1" dirty="0">
                <a:latin typeface="Arial Rounded MT Bold" panose="020F0704030504030204" pitchFamily="34" charset="0"/>
              </a:rPr>
              <a:t>Problem </a:t>
            </a:r>
            <a:r>
              <a:rPr lang="en-IN" sz="6000" b="1" dirty="0" err="1">
                <a:latin typeface="Arial Rounded MT Bold" panose="020F0704030504030204" pitchFamily="34" charset="0"/>
              </a:rPr>
              <a:t>Statment</a:t>
            </a:r>
            <a:endParaRPr lang="en-IN" sz="6000" b="1" dirty="0">
              <a:latin typeface="Arial Rounded MT Bold" panose="020F0704030504030204" pitchFamily="34" charset="0"/>
            </a:endParaRPr>
          </a:p>
        </p:txBody>
      </p:sp>
    </p:spTree>
    <p:extLst>
      <p:ext uri="{BB962C8B-B14F-4D97-AF65-F5344CB8AC3E}">
        <p14:creationId xmlns:p14="http://schemas.microsoft.com/office/powerpoint/2010/main" val="4075475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267C5C-919E-9E8A-F44B-A3E210CD6776}"/>
              </a:ext>
            </a:extLst>
          </p:cNvPr>
          <p:cNvSpPr>
            <a:spLocks noGrp="1"/>
          </p:cNvSpPr>
          <p:nvPr>
            <p:ph idx="1"/>
          </p:nvPr>
        </p:nvSpPr>
        <p:spPr/>
        <p:txBody>
          <a:bodyPr/>
          <a:lstStyle/>
          <a:p>
            <a:r>
              <a:rPr lang="en-US" b="1" dirty="0"/>
              <a:t>Quantity the correlation between user engagement(reviews, tips, check-ins) and review count/average star rating</a:t>
            </a:r>
            <a:r>
              <a:rPr lang="en-US" dirty="0"/>
              <a:t>: This will help us determine if restaurants with higher user engagement experience a corresponding increase in reviews and ratings.</a:t>
            </a:r>
          </a:p>
          <a:p>
            <a:r>
              <a:rPr lang="en-US" b="1" dirty="0"/>
              <a:t>Analyze the impact of sentiment in review count and average star rating: </a:t>
            </a:r>
            <a:r>
              <a:rPr lang="en-US" dirty="0"/>
              <a:t>We will Investigate if positive sentiment in reviews and tis translate to higher star ratings and potentially influences the total number of review left.</a:t>
            </a:r>
            <a:endParaRPr lang="en-IN" dirty="0"/>
          </a:p>
        </p:txBody>
      </p:sp>
      <p:sp>
        <p:nvSpPr>
          <p:cNvPr id="4" name="Title 3">
            <a:extLst>
              <a:ext uri="{FF2B5EF4-FFF2-40B4-BE49-F238E27FC236}">
                <a16:creationId xmlns:a16="http://schemas.microsoft.com/office/drawing/2014/main" id="{6ADA5ED9-D9D6-E00C-3B87-E176E24D5BCA}"/>
              </a:ext>
            </a:extLst>
          </p:cNvPr>
          <p:cNvSpPr>
            <a:spLocks noGrp="1"/>
          </p:cNvSpPr>
          <p:nvPr>
            <p:ph type="title"/>
          </p:nvPr>
        </p:nvSpPr>
        <p:spPr>
          <a:xfrm>
            <a:off x="838200" y="365125"/>
            <a:ext cx="10515600" cy="13255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IN" sz="6600" b="1" dirty="0">
                <a:latin typeface="Arial Rounded MT Bold" panose="020F0704030504030204" pitchFamily="34" charset="0"/>
              </a:rPr>
              <a:t>Research Objectives</a:t>
            </a:r>
          </a:p>
        </p:txBody>
      </p:sp>
    </p:spTree>
    <p:extLst>
      <p:ext uri="{BB962C8B-B14F-4D97-AF65-F5344CB8AC3E}">
        <p14:creationId xmlns:p14="http://schemas.microsoft.com/office/powerpoint/2010/main" val="203260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4CBD2-6C2A-7D21-E436-2C63BE522068}"/>
              </a:ext>
            </a:extLst>
          </p:cNvPr>
          <p:cNvSpPr>
            <a:spLocks noGrp="1"/>
          </p:cNvSpPr>
          <p:nvPr>
            <p:ph type="ctrTitle"/>
          </p:nvPr>
        </p:nvSpPr>
        <p:spPr>
          <a:xfrm>
            <a:off x="-224590" y="-720558"/>
            <a:ext cx="9144000" cy="2387600"/>
          </a:xfrm>
        </p:spPr>
        <p:txBody>
          <a:bodyPr>
            <a:normAutofit/>
          </a:bodyPr>
          <a:lstStyle/>
          <a:p>
            <a:r>
              <a:rPr lang="en-IN" sz="7200" b="1" dirty="0">
                <a:latin typeface="Arial Black" panose="020B0A04020102020204" pitchFamily="34" charset="0"/>
              </a:rPr>
              <a:t>Data Overview</a:t>
            </a:r>
          </a:p>
        </p:txBody>
      </p:sp>
      <p:sp>
        <p:nvSpPr>
          <p:cNvPr id="3" name="Subtitle 2">
            <a:extLst>
              <a:ext uri="{FF2B5EF4-FFF2-40B4-BE49-F238E27FC236}">
                <a16:creationId xmlns:a16="http://schemas.microsoft.com/office/drawing/2014/main" id="{6CC052E8-B2F4-D3CD-87DB-448251B80ABF}"/>
              </a:ext>
            </a:extLst>
          </p:cNvPr>
          <p:cNvSpPr>
            <a:spLocks noGrp="1"/>
          </p:cNvSpPr>
          <p:nvPr>
            <p:ph type="subTitle" idx="1"/>
          </p:nvPr>
        </p:nvSpPr>
        <p:spPr>
          <a:xfrm>
            <a:off x="1058779" y="2018047"/>
            <a:ext cx="10331116" cy="4366711"/>
          </a:xfrm>
        </p:spPr>
        <p:txBody>
          <a:bodyPr>
            <a:noAutofit/>
          </a:bodyPr>
          <a:lstStyle/>
          <a:p>
            <a:pPr marL="342900" indent="-342900" algn="l">
              <a:lnSpc>
                <a:spcPct val="150000"/>
              </a:lnSpc>
              <a:buFont typeface="Arial" panose="020B0604020202020204" pitchFamily="34" charset="0"/>
              <a:buChar char="•"/>
            </a:pPr>
            <a:r>
              <a:rPr lang="en-US" b="1" dirty="0"/>
              <a:t>This dataset is a small part of the Yelp data and contains information about businesses in 8 major cities in the USA and Canada.</a:t>
            </a:r>
          </a:p>
          <a:p>
            <a:pPr marL="342900" indent="-342900" algn="l">
              <a:lnSpc>
                <a:spcPct val="150000"/>
              </a:lnSpc>
              <a:buFont typeface="Arial" panose="020B0604020202020204" pitchFamily="34" charset="0"/>
              <a:buChar char="•"/>
            </a:pPr>
            <a:r>
              <a:rPr lang="en-US" b="1" dirty="0"/>
              <a:t>The original data was provided by Yelp in JSON format.</a:t>
            </a:r>
          </a:p>
          <a:p>
            <a:pPr marL="342900" indent="-342900" algn="l">
              <a:lnSpc>
                <a:spcPct val="150000"/>
              </a:lnSpc>
              <a:buFont typeface="Arial" panose="020B0604020202020204" pitchFamily="34" charset="0"/>
              <a:buChar char="•"/>
            </a:pPr>
            <a:r>
              <a:rPr lang="en-US" b="1" dirty="0"/>
              <a:t>There are five main JSON files: Business, Review, User, Tip, and Check-in.</a:t>
            </a:r>
          </a:p>
          <a:p>
            <a:pPr marL="342900" indent="-342900" algn="l">
              <a:lnSpc>
                <a:spcPct val="150000"/>
              </a:lnSpc>
              <a:buFont typeface="Arial" panose="020B0604020202020204" pitchFamily="34" charset="0"/>
              <a:buChar char="•"/>
            </a:pPr>
            <a:r>
              <a:rPr lang="en-US" b="1" dirty="0"/>
              <a:t>All JSON files are saved in a database so the data can be easily accessed and analyzed.</a:t>
            </a:r>
            <a:br>
              <a:rPr lang="en-US" b="1" dirty="0"/>
            </a:br>
            <a:endParaRPr lang="en-IN" b="1" dirty="0"/>
          </a:p>
          <a:p>
            <a:pPr marL="342900" indent="-342900" algn="l">
              <a:buFont typeface="Arial" panose="020B0604020202020204" pitchFamily="34" charset="0"/>
              <a:buChar char="•"/>
            </a:pPr>
            <a:endParaRPr lang="en-IN" sz="3200" b="1" dirty="0"/>
          </a:p>
        </p:txBody>
      </p:sp>
    </p:spTree>
    <p:extLst>
      <p:ext uri="{BB962C8B-B14F-4D97-AF65-F5344CB8AC3E}">
        <p14:creationId xmlns:p14="http://schemas.microsoft.com/office/powerpoint/2010/main" val="1390609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4BDA4-4069-2784-08B6-799F52C62874}"/>
              </a:ext>
            </a:extLst>
          </p:cNvPr>
          <p:cNvSpPr>
            <a:spLocks noGrp="1"/>
          </p:cNvSpPr>
          <p:nvPr>
            <p:ph type="title"/>
          </p:nvPr>
        </p:nvSpPr>
        <p:spPr>
          <a:xfrm>
            <a:off x="581526" y="149726"/>
            <a:ext cx="10515600" cy="1062622"/>
          </a:xfrm>
        </p:spPr>
        <p:txBody>
          <a:bodyPr/>
          <a:lstStyle/>
          <a:p>
            <a:r>
              <a:rPr lang="en-IN" b="1" dirty="0">
                <a:latin typeface="Arial Black" panose="020B0A04020102020204" pitchFamily="34" charset="0"/>
              </a:rPr>
              <a:t>Analysis and Findings</a:t>
            </a:r>
          </a:p>
        </p:txBody>
      </p:sp>
      <p:sp>
        <p:nvSpPr>
          <p:cNvPr id="3" name="Content Placeholder 2">
            <a:extLst>
              <a:ext uri="{FF2B5EF4-FFF2-40B4-BE49-F238E27FC236}">
                <a16:creationId xmlns:a16="http://schemas.microsoft.com/office/drawing/2014/main" id="{0153CE76-0F5B-52C7-90D9-38C3AB3594BE}"/>
              </a:ext>
            </a:extLst>
          </p:cNvPr>
          <p:cNvSpPr>
            <a:spLocks noGrp="1"/>
          </p:cNvSpPr>
          <p:nvPr>
            <p:ph idx="1"/>
          </p:nvPr>
        </p:nvSpPr>
        <p:spPr>
          <a:xfrm>
            <a:off x="838200" y="1212348"/>
            <a:ext cx="10515600" cy="4351338"/>
          </a:xfrm>
        </p:spPr>
        <p:txBody>
          <a:bodyPr/>
          <a:lstStyle/>
          <a:p>
            <a:r>
              <a:rPr lang="en-IN" sz="2400" dirty="0"/>
              <a:t>Out of 150k businesses, 35k are open restaurants included in this analysis.</a:t>
            </a:r>
          </a:p>
          <a:p>
            <a:r>
              <a:rPr lang="en-US" sz="2400" dirty="0"/>
              <a:t>A table shows restaurant success using number</a:t>
            </a:r>
            <a:r>
              <a:rPr lang="en-US" sz="2400" b="1" dirty="0"/>
              <a:t> </a:t>
            </a:r>
            <a:r>
              <a:rPr lang="en-US" sz="2400" dirty="0"/>
              <a:t>of</a:t>
            </a:r>
            <a:r>
              <a:rPr lang="en-US" sz="2400" b="1" dirty="0"/>
              <a:t> </a:t>
            </a:r>
            <a:r>
              <a:rPr lang="en-US" sz="2400" dirty="0"/>
              <a:t>reviews and average</a:t>
            </a:r>
            <a:r>
              <a:rPr lang="en-US" sz="2400" b="1" dirty="0"/>
              <a:t> </a:t>
            </a:r>
            <a:r>
              <a:rPr lang="en-US" sz="2400" dirty="0"/>
              <a:t>ratings.</a:t>
            </a:r>
          </a:p>
          <a:p>
            <a:endParaRPr lang="en-IN" dirty="0"/>
          </a:p>
        </p:txBody>
      </p:sp>
      <p:pic>
        <p:nvPicPr>
          <p:cNvPr id="5" name="Picture 4">
            <a:extLst>
              <a:ext uri="{FF2B5EF4-FFF2-40B4-BE49-F238E27FC236}">
                <a16:creationId xmlns:a16="http://schemas.microsoft.com/office/drawing/2014/main" id="{AE662F0D-DC50-B8F0-A82D-F5E8CA843A34}"/>
              </a:ext>
            </a:extLst>
          </p:cNvPr>
          <p:cNvPicPr>
            <a:picLocks noChangeAspect="1"/>
          </p:cNvPicPr>
          <p:nvPr/>
        </p:nvPicPr>
        <p:blipFill>
          <a:blip r:embed="rId2"/>
          <a:stretch>
            <a:fillRect/>
          </a:stretch>
        </p:blipFill>
        <p:spPr>
          <a:xfrm>
            <a:off x="1679029" y="2018421"/>
            <a:ext cx="3967792" cy="4763531"/>
          </a:xfrm>
          <a:prstGeom prst="rect">
            <a:avLst/>
          </a:prstGeom>
        </p:spPr>
      </p:pic>
    </p:spTree>
    <p:extLst>
      <p:ext uri="{BB962C8B-B14F-4D97-AF65-F5344CB8AC3E}">
        <p14:creationId xmlns:p14="http://schemas.microsoft.com/office/powerpoint/2010/main" val="544100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EE2D28-8AC3-9874-4293-D70A2BECF40E}"/>
              </a:ext>
            </a:extLst>
          </p:cNvPr>
          <p:cNvSpPr/>
          <p:nvPr/>
        </p:nvSpPr>
        <p:spPr>
          <a:xfrm>
            <a:off x="267800" y="380872"/>
            <a:ext cx="5574890" cy="914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rPr>
              <a:t>Highest Rating</a:t>
            </a:r>
          </a:p>
        </p:txBody>
      </p:sp>
      <p:sp>
        <p:nvSpPr>
          <p:cNvPr id="6" name="Rectangle 5">
            <a:extLst>
              <a:ext uri="{FF2B5EF4-FFF2-40B4-BE49-F238E27FC236}">
                <a16:creationId xmlns:a16="http://schemas.microsoft.com/office/drawing/2014/main" id="{09F25A4A-7054-C6BE-BFA0-08254EDF8E38}"/>
              </a:ext>
            </a:extLst>
          </p:cNvPr>
          <p:cNvSpPr/>
          <p:nvPr/>
        </p:nvSpPr>
        <p:spPr>
          <a:xfrm>
            <a:off x="6241155" y="380872"/>
            <a:ext cx="5683045" cy="914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rPr>
              <a:t>Highest Review Count</a:t>
            </a:r>
          </a:p>
        </p:txBody>
      </p:sp>
      <p:pic>
        <p:nvPicPr>
          <p:cNvPr id="8" name="Picture 7">
            <a:extLst>
              <a:ext uri="{FF2B5EF4-FFF2-40B4-BE49-F238E27FC236}">
                <a16:creationId xmlns:a16="http://schemas.microsoft.com/office/drawing/2014/main" id="{28E1A51D-053E-9C56-F139-1B2D85BAC480}"/>
              </a:ext>
            </a:extLst>
          </p:cNvPr>
          <p:cNvPicPr>
            <a:picLocks noChangeAspect="1"/>
          </p:cNvPicPr>
          <p:nvPr/>
        </p:nvPicPr>
        <p:blipFill>
          <a:blip r:embed="rId2"/>
          <a:stretch>
            <a:fillRect/>
          </a:stretch>
        </p:blipFill>
        <p:spPr>
          <a:xfrm>
            <a:off x="635557" y="1516953"/>
            <a:ext cx="4839375" cy="4010585"/>
          </a:xfrm>
          <a:prstGeom prst="rect">
            <a:avLst/>
          </a:prstGeom>
        </p:spPr>
      </p:pic>
      <p:pic>
        <p:nvPicPr>
          <p:cNvPr id="10" name="Picture 9">
            <a:extLst>
              <a:ext uri="{FF2B5EF4-FFF2-40B4-BE49-F238E27FC236}">
                <a16:creationId xmlns:a16="http://schemas.microsoft.com/office/drawing/2014/main" id="{264A55AF-2008-DD63-58A0-32E2791A6A6F}"/>
              </a:ext>
            </a:extLst>
          </p:cNvPr>
          <p:cNvPicPr>
            <a:picLocks noChangeAspect="1"/>
          </p:cNvPicPr>
          <p:nvPr/>
        </p:nvPicPr>
        <p:blipFill>
          <a:blip r:embed="rId3"/>
          <a:stretch>
            <a:fillRect/>
          </a:stretch>
        </p:blipFill>
        <p:spPr>
          <a:xfrm>
            <a:off x="6971275" y="1548004"/>
            <a:ext cx="3896269" cy="4010585"/>
          </a:xfrm>
          <a:prstGeom prst="rect">
            <a:avLst/>
          </a:prstGeom>
        </p:spPr>
      </p:pic>
      <p:sp>
        <p:nvSpPr>
          <p:cNvPr id="11" name="Rectangle 10">
            <a:extLst>
              <a:ext uri="{FF2B5EF4-FFF2-40B4-BE49-F238E27FC236}">
                <a16:creationId xmlns:a16="http://schemas.microsoft.com/office/drawing/2014/main" id="{67CF3BA6-45DC-6F39-FD32-816C4A998C06}"/>
              </a:ext>
            </a:extLst>
          </p:cNvPr>
          <p:cNvSpPr/>
          <p:nvPr/>
        </p:nvSpPr>
        <p:spPr>
          <a:xfrm>
            <a:off x="812537" y="5663837"/>
            <a:ext cx="10231988" cy="914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r>
              <a:rPr lang="en-IN" sz="2400" dirty="0"/>
              <a:t>Higher ratings do not guarantee a Higher review count and Vice Versa.</a:t>
            </a:r>
          </a:p>
          <a:p>
            <a:pPr marL="285750" indent="-285750">
              <a:buFont typeface="Arial" panose="020B0604020202020204" pitchFamily="34" charset="0"/>
              <a:buChar char="•"/>
            </a:pPr>
            <a:r>
              <a:rPr lang="en-IN" sz="2400" dirty="0"/>
              <a:t>Success of Restaurants is not solely determined by ratings or review counts.</a:t>
            </a:r>
          </a:p>
        </p:txBody>
      </p:sp>
      <p:cxnSp>
        <p:nvCxnSpPr>
          <p:cNvPr id="13" name="Straight Connector 12">
            <a:extLst>
              <a:ext uri="{FF2B5EF4-FFF2-40B4-BE49-F238E27FC236}">
                <a16:creationId xmlns:a16="http://schemas.microsoft.com/office/drawing/2014/main" id="{6AA030A0-1CB7-0827-B153-5E3A70603339}"/>
              </a:ext>
            </a:extLst>
          </p:cNvPr>
          <p:cNvCxnSpPr>
            <a:cxnSpLocks/>
          </p:cNvCxnSpPr>
          <p:nvPr/>
        </p:nvCxnSpPr>
        <p:spPr>
          <a:xfrm>
            <a:off x="6096000" y="560439"/>
            <a:ext cx="0" cy="460800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263445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AC11-C7CF-B6F7-2846-8B4068153E91}"/>
              </a:ext>
            </a:extLst>
          </p:cNvPr>
          <p:cNvSpPr>
            <a:spLocks noGrp="1"/>
          </p:cNvSpPr>
          <p:nvPr>
            <p:ph type="title"/>
          </p:nvPr>
        </p:nvSpPr>
        <p:spPr>
          <a:xfrm>
            <a:off x="549442" y="97372"/>
            <a:ext cx="10515600" cy="1522881"/>
          </a:xfrm>
        </p:spPr>
        <p:txBody>
          <a:bodyPr>
            <a:normAutofit/>
          </a:bodyPr>
          <a:lstStyle/>
          <a:p>
            <a:r>
              <a:rPr lang="en-IN" sz="3600" b="1" dirty="0">
                <a:latin typeface="Arial Rounded MT Bold" panose="020F0704030504030204" pitchFamily="34" charset="0"/>
              </a:rPr>
              <a:t>Do restaurants with higher engagement tend to have higher ratings?</a:t>
            </a:r>
          </a:p>
        </p:txBody>
      </p:sp>
      <p:sp>
        <p:nvSpPr>
          <p:cNvPr id="3" name="Content Placeholder 2">
            <a:extLst>
              <a:ext uri="{FF2B5EF4-FFF2-40B4-BE49-F238E27FC236}">
                <a16:creationId xmlns:a16="http://schemas.microsoft.com/office/drawing/2014/main" id="{DD0CB853-BDA4-93C9-D1B1-7A64F402981D}"/>
              </a:ext>
            </a:extLst>
          </p:cNvPr>
          <p:cNvSpPr>
            <a:spLocks noGrp="1"/>
          </p:cNvSpPr>
          <p:nvPr>
            <p:ph idx="1"/>
          </p:nvPr>
        </p:nvSpPr>
        <p:spPr/>
        <p:txBody>
          <a:bodyPr/>
          <a:lstStyle/>
          <a:p>
            <a:r>
              <a:rPr lang="en-US" dirty="0"/>
              <a:t>As restaurant ratings go from 1 star to 4 stars, the number of reviews, check-ins, and tips usually increases.</a:t>
            </a:r>
          </a:p>
          <a:p>
            <a:r>
              <a:rPr lang="en-US" dirty="0"/>
              <a:t>Restaurants with </a:t>
            </a:r>
            <a:r>
              <a:rPr lang="en-US" b="1" dirty="0"/>
              <a:t>4-star ratings</a:t>
            </a:r>
            <a:r>
              <a:rPr lang="en-US" dirty="0"/>
              <a:t> get the highest customer engagement.</a:t>
            </a:r>
          </a:p>
          <a:p>
            <a:r>
              <a:rPr lang="en-US" dirty="0"/>
              <a:t>Engagement drops at </a:t>
            </a:r>
            <a:r>
              <a:rPr lang="en-US" b="1" dirty="0"/>
              <a:t>5-star ratings</a:t>
            </a:r>
            <a:r>
              <a:rPr lang="en-US" dirty="0"/>
              <a:t>, possibly because fewer people visit these places or only a small group of very satisfied customers go there. </a:t>
            </a:r>
          </a:p>
          <a:p>
            <a:endParaRPr lang="en-US" dirty="0"/>
          </a:p>
        </p:txBody>
      </p:sp>
      <p:pic>
        <p:nvPicPr>
          <p:cNvPr id="4" name="Picture 2">
            <a:extLst>
              <a:ext uri="{FF2B5EF4-FFF2-40B4-BE49-F238E27FC236}">
                <a16:creationId xmlns:a16="http://schemas.microsoft.com/office/drawing/2014/main" id="{84A78565-D144-32C8-01B1-46BF25D8B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8979" y="4111442"/>
            <a:ext cx="7956885" cy="2649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07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3548-14B8-E476-27ED-808A49254587}"/>
              </a:ext>
            </a:extLst>
          </p:cNvPr>
          <p:cNvSpPr>
            <a:spLocks noGrp="1"/>
          </p:cNvSpPr>
          <p:nvPr>
            <p:ph type="title"/>
          </p:nvPr>
        </p:nvSpPr>
        <p:spPr>
          <a:xfrm>
            <a:off x="146384" y="85269"/>
            <a:ext cx="11899231" cy="1325563"/>
          </a:xfrm>
        </p:spPr>
        <p:txBody>
          <a:bodyPr>
            <a:normAutofit/>
          </a:bodyPr>
          <a:lstStyle/>
          <a:p>
            <a:r>
              <a:rPr lang="en-IN" sz="3200" b="1" dirty="0">
                <a:latin typeface="Arial Rounded MT Bold" panose="020F0704030504030204" pitchFamily="34" charset="0"/>
              </a:rPr>
              <a:t>Is there any correlation between the number of reviews, tips, and check-ins for a business?</a:t>
            </a:r>
          </a:p>
        </p:txBody>
      </p:sp>
      <p:sp>
        <p:nvSpPr>
          <p:cNvPr id="3" name="Content Placeholder 2">
            <a:extLst>
              <a:ext uri="{FF2B5EF4-FFF2-40B4-BE49-F238E27FC236}">
                <a16:creationId xmlns:a16="http://schemas.microsoft.com/office/drawing/2014/main" id="{76D0379E-75DE-D508-1978-C2459DB4F1BE}"/>
              </a:ext>
            </a:extLst>
          </p:cNvPr>
          <p:cNvSpPr>
            <a:spLocks noGrp="1"/>
          </p:cNvSpPr>
          <p:nvPr>
            <p:ph idx="1"/>
          </p:nvPr>
        </p:nvSpPr>
        <p:spPr>
          <a:xfrm>
            <a:off x="661737" y="1410832"/>
            <a:ext cx="10515600" cy="4351338"/>
          </a:xfrm>
        </p:spPr>
        <p:txBody>
          <a:bodyPr/>
          <a:lstStyle/>
          <a:p>
            <a:r>
              <a:rPr lang="en-US" dirty="0"/>
              <a:t>Reviews, tips, and check-ins are closely connected, meaning that when customers are active in one way, they are often active in other ways too.</a:t>
            </a:r>
          </a:p>
          <a:p>
            <a:endParaRPr lang="en-IN" dirty="0"/>
          </a:p>
        </p:txBody>
      </p:sp>
      <p:pic>
        <p:nvPicPr>
          <p:cNvPr id="8" name="Picture 2">
            <a:extLst>
              <a:ext uri="{FF2B5EF4-FFF2-40B4-BE49-F238E27FC236}">
                <a16:creationId xmlns:a16="http://schemas.microsoft.com/office/drawing/2014/main" id="{03C9168E-5A41-A096-8A87-A11EC9954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4228" y="2677323"/>
            <a:ext cx="4446035" cy="308484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223E46D-8F4C-DE00-4DF8-982A33B24998}"/>
              </a:ext>
            </a:extLst>
          </p:cNvPr>
          <p:cNvSpPr txBox="1"/>
          <p:nvPr/>
        </p:nvSpPr>
        <p:spPr>
          <a:xfrm>
            <a:off x="661737" y="3056020"/>
            <a:ext cx="6069565"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Businesses should focus on improving all types of customer engagement because increasing one type of activity can help increase the others and improve overall visibility.</a:t>
            </a:r>
            <a:endParaRPr lang="en-IN" sz="2800" dirty="0"/>
          </a:p>
        </p:txBody>
      </p:sp>
    </p:spTree>
    <p:extLst>
      <p:ext uri="{BB962C8B-B14F-4D97-AF65-F5344CB8AC3E}">
        <p14:creationId xmlns:p14="http://schemas.microsoft.com/office/powerpoint/2010/main" val="3931266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3BCE-834A-F40A-1DFE-D0B2A336CD8F}"/>
              </a:ext>
            </a:extLst>
          </p:cNvPr>
          <p:cNvSpPr>
            <a:spLocks noGrp="1"/>
          </p:cNvSpPr>
          <p:nvPr>
            <p:ph type="title"/>
          </p:nvPr>
        </p:nvSpPr>
        <p:spPr>
          <a:xfrm>
            <a:off x="228601" y="13743"/>
            <a:ext cx="11498178" cy="1325563"/>
          </a:xfrm>
        </p:spPr>
        <p:txBody>
          <a:bodyPr>
            <a:noAutofit/>
          </a:bodyPr>
          <a:lstStyle/>
          <a:p>
            <a:r>
              <a:rPr lang="en-IN" sz="3200" b="1" dirty="0">
                <a:latin typeface="Arial Rounded MT Bold" panose="020F0704030504030204" pitchFamily="34" charset="0"/>
              </a:rPr>
              <a:t>Is there any difference in the user engagement between high-rated and low-rated businesses?</a:t>
            </a:r>
          </a:p>
        </p:txBody>
      </p:sp>
      <p:sp>
        <p:nvSpPr>
          <p:cNvPr id="3" name="Content Placeholder 2">
            <a:extLst>
              <a:ext uri="{FF2B5EF4-FFF2-40B4-BE49-F238E27FC236}">
                <a16:creationId xmlns:a16="http://schemas.microsoft.com/office/drawing/2014/main" id="{9B33367B-74EF-4B52-B451-16122B86AF36}"/>
              </a:ext>
            </a:extLst>
          </p:cNvPr>
          <p:cNvSpPr>
            <a:spLocks noGrp="1"/>
          </p:cNvSpPr>
          <p:nvPr>
            <p:ph idx="1"/>
          </p:nvPr>
        </p:nvSpPr>
        <p:spPr>
          <a:xfrm>
            <a:off x="838200" y="1466098"/>
            <a:ext cx="10515600" cy="4715377"/>
          </a:xfrm>
        </p:spPr>
        <p:txBody>
          <a:bodyPr/>
          <a:lstStyle/>
          <a:p>
            <a:r>
              <a:rPr lang="en-IN" sz="3000" dirty="0"/>
              <a:t>Data indicates a clear correlation between higher ratings and increased user engagement across reviews, tips and check-ins.</a:t>
            </a:r>
          </a:p>
          <a:p>
            <a:r>
              <a:rPr lang="en-IN" sz="3000" dirty="0"/>
              <a:t>This pattern underscore the importance of maintaining high service and quality standards, as these appear to drive more reviews, check-ins, and tips, which are critical metrics of customer engagement and satisfaction.</a:t>
            </a:r>
          </a:p>
          <a:p>
            <a:endParaRPr lang="en-IN" dirty="0"/>
          </a:p>
        </p:txBody>
      </p:sp>
      <p:pic>
        <p:nvPicPr>
          <p:cNvPr id="5" name="Picture 4">
            <a:extLst>
              <a:ext uri="{FF2B5EF4-FFF2-40B4-BE49-F238E27FC236}">
                <a16:creationId xmlns:a16="http://schemas.microsoft.com/office/drawing/2014/main" id="{47D578E3-F8C5-2258-0D93-DCC224F6FD9E}"/>
              </a:ext>
            </a:extLst>
          </p:cNvPr>
          <p:cNvPicPr>
            <a:picLocks noChangeAspect="1"/>
          </p:cNvPicPr>
          <p:nvPr/>
        </p:nvPicPr>
        <p:blipFill>
          <a:blip r:embed="rId2"/>
          <a:stretch>
            <a:fillRect/>
          </a:stretch>
        </p:blipFill>
        <p:spPr>
          <a:xfrm>
            <a:off x="2867733" y="4599504"/>
            <a:ext cx="5153320" cy="1760523"/>
          </a:xfrm>
          <a:prstGeom prst="rect">
            <a:avLst/>
          </a:prstGeom>
        </p:spPr>
      </p:pic>
    </p:spTree>
    <p:extLst>
      <p:ext uri="{BB962C8B-B14F-4D97-AF65-F5344CB8AC3E}">
        <p14:creationId xmlns:p14="http://schemas.microsoft.com/office/powerpoint/2010/main" val="1597441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E414-0AFE-2E05-55D6-73940CE9D107}"/>
              </a:ext>
            </a:extLst>
          </p:cNvPr>
          <p:cNvSpPr>
            <a:spLocks noGrp="1"/>
          </p:cNvSpPr>
          <p:nvPr>
            <p:ph type="title"/>
          </p:nvPr>
        </p:nvSpPr>
        <p:spPr>
          <a:xfrm>
            <a:off x="178468" y="129340"/>
            <a:ext cx="11869153" cy="1325563"/>
          </a:xfrm>
        </p:spPr>
        <p:txBody>
          <a:bodyPr>
            <a:normAutofit/>
          </a:bodyPr>
          <a:lstStyle/>
          <a:p>
            <a:r>
              <a:rPr lang="en-IN" sz="3200" b="1" dirty="0">
                <a:latin typeface="Arial Rounded MT Bold" panose="020F0704030504030204" pitchFamily="34" charset="0"/>
              </a:rPr>
              <a:t>Are there any patterns in user engagement over time for successful businesses compared tot less successful ones</a:t>
            </a:r>
          </a:p>
        </p:txBody>
      </p:sp>
      <p:sp>
        <p:nvSpPr>
          <p:cNvPr id="4" name="Content Placeholder 3">
            <a:extLst>
              <a:ext uri="{FF2B5EF4-FFF2-40B4-BE49-F238E27FC236}">
                <a16:creationId xmlns:a16="http://schemas.microsoft.com/office/drawing/2014/main" id="{FA08A26A-3A79-19AD-E283-69FD97DD81EA}"/>
              </a:ext>
            </a:extLst>
          </p:cNvPr>
          <p:cNvSpPr>
            <a:spLocks noGrp="1"/>
          </p:cNvSpPr>
          <p:nvPr>
            <p:ph sz="half" idx="2"/>
          </p:nvPr>
        </p:nvSpPr>
        <p:spPr>
          <a:xfrm>
            <a:off x="7234988" y="1714540"/>
            <a:ext cx="4379496" cy="4351338"/>
          </a:xfrm>
        </p:spPr>
        <p:txBody>
          <a:bodyPr>
            <a:normAutofit/>
          </a:bodyPr>
          <a:lstStyle/>
          <a:p>
            <a:r>
              <a:rPr lang="en-US" dirty="0"/>
              <a:t>Restaurants with higher ratings (above 3.5 stars) usually show steady or increasing customer activity over time.</a:t>
            </a:r>
          </a:p>
          <a:p>
            <a:r>
              <a:rPr lang="en-US" dirty="0"/>
              <a:t>This steady engagement means customers stay interested and are generally satisfied with these restaurants.</a:t>
            </a:r>
            <a:endParaRPr lang="en-IN" b="1" dirty="0"/>
          </a:p>
        </p:txBody>
      </p:sp>
      <p:pic>
        <p:nvPicPr>
          <p:cNvPr id="5122" name="Picture 2">
            <a:extLst>
              <a:ext uri="{FF2B5EF4-FFF2-40B4-BE49-F238E27FC236}">
                <a16:creationId xmlns:a16="http://schemas.microsoft.com/office/drawing/2014/main" id="{CCE30BAD-B663-6902-2923-47F56A2EEE6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78467" y="1498183"/>
            <a:ext cx="6928186" cy="4517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384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C2EB-BCE2-54E1-4342-A2BC19A3403A}"/>
              </a:ext>
            </a:extLst>
          </p:cNvPr>
          <p:cNvSpPr>
            <a:spLocks noGrp="1"/>
          </p:cNvSpPr>
          <p:nvPr>
            <p:ph type="title"/>
          </p:nvPr>
        </p:nvSpPr>
        <p:spPr>
          <a:xfrm>
            <a:off x="244641" y="95910"/>
            <a:ext cx="11674642" cy="1325563"/>
          </a:xfrm>
        </p:spPr>
        <p:txBody>
          <a:bodyPr>
            <a:normAutofit fontScale="90000"/>
          </a:bodyPr>
          <a:lstStyle/>
          <a:p>
            <a:r>
              <a:rPr lang="en-IN" sz="3400" b="1" dirty="0">
                <a:latin typeface="Arial Rounded MT Bold" panose="020F0704030504030204" pitchFamily="34" charset="0"/>
              </a:rPr>
              <a:t>How does the sentiment of reviews and tips (useful, funny, cool) correlate with the success metrics of restaurants?</a:t>
            </a:r>
          </a:p>
        </p:txBody>
      </p:sp>
      <p:pic>
        <p:nvPicPr>
          <p:cNvPr id="5" name="Content Placeholder 4">
            <a:extLst>
              <a:ext uri="{FF2B5EF4-FFF2-40B4-BE49-F238E27FC236}">
                <a16:creationId xmlns:a16="http://schemas.microsoft.com/office/drawing/2014/main" id="{C94F3B1B-C3CD-A6D3-0FA9-69DEBB0EC0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32693" y="1747970"/>
            <a:ext cx="5254698" cy="43513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321313-66CB-8F17-B113-AAF674CFB9FF}"/>
              </a:ext>
            </a:extLst>
          </p:cNvPr>
          <p:cNvSpPr txBox="1"/>
          <p:nvPr/>
        </p:nvSpPr>
        <p:spPr>
          <a:xfrm>
            <a:off x="244641" y="1876925"/>
            <a:ext cx="6288052" cy="3693319"/>
          </a:xfrm>
          <a:prstGeom prst="rect">
            <a:avLst/>
          </a:prstGeom>
          <a:noFill/>
        </p:spPr>
        <p:txBody>
          <a:bodyPr wrap="square" rtlCol="0">
            <a:spAutoFit/>
          </a:bodyPr>
          <a:lstStyle/>
          <a:p>
            <a:pPr marL="285750" indent="-285750">
              <a:buFont typeface="Arial" panose="020B0604020202020204" pitchFamily="34" charset="0"/>
              <a:buChar char="•"/>
            </a:pPr>
            <a:r>
              <a:rPr lang="en-US" sz="2600" b="1" dirty="0"/>
              <a:t>“useful”, “funny” and “cool” are attributes associated with user reviews. They represent the feedback provided by users about the usefulness, humor, or coolness of a particular review.</a:t>
            </a:r>
          </a:p>
          <a:p>
            <a:pPr marL="285750" indent="-285750">
              <a:buFont typeface="Arial" panose="020B0604020202020204" pitchFamily="34" charset="0"/>
              <a:buChar char="•"/>
            </a:pPr>
            <a:r>
              <a:rPr lang="en-US" sz="2600" b="1" dirty="0"/>
              <a:t>Higher counts of useful, funny, and cool reviews suggest greater user engagement and satisfaction, which are key factors contributing to a restaurant’s success </a:t>
            </a:r>
            <a:endParaRPr lang="en-IN" sz="2600" b="1" dirty="0"/>
          </a:p>
        </p:txBody>
      </p:sp>
    </p:spTree>
    <p:extLst>
      <p:ext uri="{BB962C8B-B14F-4D97-AF65-F5344CB8AC3E}">
        <p14:creationId xmlns:p14="http://schemas.microsoft.com/office/powerpoint/2010/main" val="3857486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0619D-721A-D9F8-19EB-5C2A092645A8}"/>
              </a:ext>
            </a:extLst>
          </p:cNvPr>
          <p:cNvSpPr>
            <a:spLocks noGrp="1"/>
          </p:cNvSpPr>
          <p:nvPr>
            <p:ph type="title"/>
          </p:nvPr>
        </p:nvSpPr>
        <p:spPr>
          <a:xfrm>
            <a:off x="251886" y="147484"/>
            <a:ext cx="10515600" cy="1325563"/>
          </a:xfrm>
        </p:spPr>
        <p:txBody>
          <a:bodyPr>
            <a:normAutofit/>
          </a:bodyPr>
          <a:lstStyle/>
          <a:p>
            <a:r>
              <a:rPr lang="en-IN" sz="3400" b="1" dirty="0">
                <a:latin typeface="Arial Rounded MT Bold" panose="020F0704030504030204" pitchFamily="34" charset="0"/>
              </a:rPr>
              <a:t>Is there any difference in engagement of elite users and non elite users?</a:t>
            </a:r>
          </a:p>
        </p:txBody>
      </p:sp>
      <p:sp>
        <p:nvSpPr>
          <p:cNvPr id="3" name="Content Placeholder 2">
            <a:extLst>
              <a:ext uri="{FF2B5EF4-FFF2-40B4-BE49-F238E27FC236}">
                <a16:creationId xmlns:a16="http://schemas.microsoft.com/office/drawing/2014/main" id="{D57ED80B-23C4-E591-5C69-4ECBA1DAF68B}"/>
              </a:ext>
            </a:extLst>
          </p:cNvPr>
          <p:cNvSpPr>
            <a:spLocks noGrp="1"/>
          </p:cNvSpPr>
          <p:nvPr>
            <p:ph idx="1"/>
          </p:nvPr>
        </p:nvSpPr>
        <p:spPr>
          <a:xfrm>
            <a:off x="477253" y="1365626"/>
            <a:ext cx="10515600" cy="4971006"/>
          </a:xfrm>
        </p:spPr>
        <p:txBody>
          <a:bodyPr>
            <a:normAutofit/>
          </a:bodyPr>
          <a:lstStyle/>
          <a:p>
            <a:r>
              <a:rPr lang="en-US" sz="2500" dirty="0"/>
              <a:t>Elite users are individuals who have been recognized and awarded </a:t>
            </a:r>
            <a:r>
              <a:rPr lang="en-US" sz="2500" b="1" dirty="0"/>
              <a:t>“Elite” status</a:t>
            </a:r>
            <a:r>
              <a:rPr lang="en-US" sz="2500" dirty="0"/>
              <a:t> by Yelp for their active and high-quality contributions.</a:t>
            </a:r>
          </a:p>
          <a:p>
            <a:r>
              <a:rPr lang="en-US" sz="2500" dirty="0"/>
              <a:t>Elite users, despite being significantly fewer in number, contribute a </a:t>
            </a:r>
            <a:r>
              <a:rPr lang="en-US" sz="2500" b="1" dirty="0"/>
              <a:t>substantial proportion</a:t>
            </a:r>
            <a:r>
              <a:rPr lang="en-US" sz="2500" dirty="0"/>
              <a:t> of the total review count compared to non-elite users.</a:t>
            </a:r>
          </a:p>
          <a:p>
            <a:r>
              <a:rPr lang="en-US" sz="2500" dirty="0"/>
              <a:t>Establishing a positive relationship with elite users can lead to repeat visits and loyalty, as they are more likely to continue supporting </a:t>
            </a:r>
            <a:r>
              <a:rPr lang="en-US" sz="2500" b="1" dirty="0"/>
              <a:t>businesses</a:t>
            </a:r>
            <a:r>
              <a:rPr lang="en-US" sz="2500" dirty="0"/>
              <a:t> they have had good experiences with.</a:t>
            </a:r>
            <a:endParaRPr lang="en-IN" sz="2500" dirty="0"/>
          </a:p>
        </p:txBody>
      </p:sp>
      <p:pic>
        <p:nvPicPr>
          <p:cNvPr id="5" name="Picture 2">
            <a:extLst>
              <a:ext uri="{FF2B5EF4-FFF2-40B4-BE49-F238E27FC236}">
                <a16:creationId xmlns:a16="http://schemas.microsoft.com/office/drawing/2014/main" id="{47EBB88B-26A5-3B72-21CA-6C636242A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116" y="4251157"/>
            <a:ext cx="6047874" cy="2735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92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0E3A-25CE-1505-263D-D26597BE6AB6}"/>
              </a:ext>
            </a:extLst>
          </p:cNvPr>
          <p:cNvSpPr>
            <a:spLocks noGrp="1"/>
          </p:cNvSpPr>
          <p:nvPr>
            <p:ph type="title"/>
          </p:nvPr>
        </p:nvSpPr>
        <p:spPr>
          <a:xfrm>
            <a:off x="501317" y="-302042"/>
            <a:ext cx="10515600" cy="1325563"/>
          </a:xfrm>
        </p:spPr>
        <p:txBody>
          <a:bodyPr/>
          <a:lstStyle/>
          <a:p>
            <a:pPr algn="ctr"/>
            <a:r>
              <a:rPr lang="en-IN" b="1" dirty="0">
                <a:latin typeface="Arial Rounded MT Bold" panose="020F0704030504030204" pitchFamily="34" charset="0"/>
              </a:rPr>
              <a:t>Busiest Hours</a:t>
            </a:r>
          </a:p>
        </p:txBody>
      </p:sp>
      <p:pic>
        <p:nvPicPr>
          <p:cNvPr id="1026" name="Picture 2">
            <a:extLst>
              <a:ext uri="{FF2B5EF4-FFF2-40B4-BE49-F238E27FC236}">
                <a16:creationId xmlns:a16="http://schemas.microsoft.com/office/drawing/2014/main" id="{C5606C8D-1715-53D1-8BFC-4936973E59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280" y="831016"/>
            <a:ext cx="6955373"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A17FA5-878F-3BC3-8121-EE10796AD5C1}"/>
              </a:ext>
            </a:extLst>
          </p:cNvPr>
          <p:cNvSpPr txBox="1"/>
          <p:nvPr/>
        </p:nvSpPr>
        <p:spPr>
          <a:xfrm>
            <a:off x="7147880" y="831016"/>
            <a:ext cx="4219074" cy="4893647"/>
          </a:xfrm>
          <a:prstGeom prst="rect">
            <a:avLst/>
          </a:prstGeom>
          <a:noFill/>
        </p:spPr>
        <p:txBody>
          <a:bodyPr wrap="square" rtlCol="0">
            <a:spAutoFit/>
          </a:bodyPr>
          <a:lstStyle/>
          <a:p>
            <a:pPr marL="285750" indent="-285750">
              <a:buFont typeface="Arial" panose="020B0604020202020204" pitchFamily="34" charset="0"/>
              <a:buChar char="•"/>
            </a:pPr>
            <a:r>
              <a:rPr lang="en-IN" sz="2400" dirty="0"/>
              <a:t>The busiest hours for restaurants, based on user engagement, span from 4 pm to 1 am</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Knowing the peak hours allows businesses to optimize their staffing levels and resource allocation during these times to ensure efficient operations and quality service delivery</a:t>
            </a:r>
          </a:p>
          <a:p>
            <a:pPr marL="285750" indent="-285750">
              <a:buFont typeface="Arial" panose="020B0604020202020204" pitchFamily="34" charset="0"/>
              <a:buChar char="•"/>
            </a:pPr>
            <a:endParaRPr lang="en-IN" sz="2400" dirty="0"/>
          </a:p>
        </p:txBody>
      </p:sp>
      <p:sp>
        <p:nvSpPr>
          <p:cNvPr id="5" name="TextBox 4">
            <a:extLst>
              <a:ext uri="{FF2B5EF4-FFF2-40B4-BE49-F238E27FC236}">
                <a16:creationId xmlns:a16="http://schemas.microsoft.com/office/drawing/2014/main" id="{614935F3-CB43-3734-E750-FEB3DAB1013B}"/>
              </a:ext>
            </a:extLst>
          </p:cNvPr>
          <p:cNvSpPr txBox="1"/>
          <p:nvPr/>
        </p:nvSpPr>
        <p:spPr>
          <a:xfrm>
            <a:off x="501318" y="5426819"/>
            <a:ext cx="11468852"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t>The concentration of user engagement during the evening and night hours suggests a higher demand for dinning out during these times, potentially driven by factors such as work schedules, social gatherings, and leisure activities.</a:t>
            </a:r>
          </a:p>
        </p:txBody>
      </p:sp>
    </p:spTree>
    <p:extLst>
      <p:ext uri="{BB962C8B-B14F-4D97-AF65-F5344CB8AC3E}">
        <p14:creationId xmlns:p14="http://schemas.microsoft.com/office/powerpoint/2010/main" val="2797939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3CDB7-FFF5-B758-B78A-6B7956B656ED}"/>
              </a:ext>
            </a:extLst>
          </p:cNvPr>
          <p:cNvSpPr>
            <a:spLocks noGrp="1"/>
          </p:cNvSpPr>
          <p:nvPr>
            <p:ph type="title"/>
          </p:nvPr>
        </p:nvSpPr>
        <p:spPr>
          <a:xfrm>
            <a:off x="629652" y="0"/>
            <a:ext cx="10515600" cy="1325563"/>
          </a:xfrm>
        </p:spPr>
        <p:txBody>
          <a:bodyPr/>
          <a:lstStyle/>
          <a:p>
            <a:endParaRPr lang="en-IN" dirty="0"/>
          </a:p>
        </p:txBody>
      </p:sp>
      <p:sp>
        <p:nvSpPr>
          <p:cNvPr id="3" name="Content Placeholder 2">
            <a:extLst>
              <a:ext uri="{FF2B5EF4-FFF2-40B4-BE49-F238E27FC236}">
                <a16:creationId xmlns:a16="http://schemas.microsoft.com/office/drawing/2014/main" id="{726E453D-B8A3-1158-06B9-09363AF63353}"/>
              </a:ext>
            </a:extLst>
          </p:cNvPr>
          <p:cNvSpPr>
            <a:spLocks noGrp="1"/>
          </p:cNvSpPr>
          <p:nvPr>
            <p:ph idx="1"/>
          </p:nvPr>
        </p:nvSpPr>
        <p:spPr>
          <a:xfrm>
            <a:off x="629652" y="1520825"/>
            <a:ext cx="10515600" cy="5024354"/>
          </a:xfrm>
        </p:spPr>
        <p:txBody>
          <a:bodyPr>
            <a:normAutofit lnSpcReduction="10000"/>
          </a:bodyPr>
          <a:lstStyle/>
          <a:p>
            <a:r>
              <a:rPr lang="en-US" dirty="0"/>
              <a:t>By looking at customer engagement, review sentiment, busy hours, and elite users, businesses can make better decisions to improve their success.</a:t>
            </a:r>
          </a:p>
          <a:p>
            <a:r>
              <a:rPr lang="en-US" dirty="0"/>
              <a:t>Working with elite users can help promote the business, increase visibility, and attract more customers.</a:t>
            </a:r>
          </a:p>
          <a:p>
            <a:r>
              <a:rPr lang="en-US" dirty="0"/>
              <a:t>Businesses can change their opening hours or run special offers during busy times to meet higher customer demand.</a:t>
            </a:r>
          </a:p>
          <a:p>
            <a:r>
              <a:rPr lang="en-US" dirty="0"/>
              <a:t>Restaurants that are not doing well should focus on increasing customer engagement by improving service and responding to feedback.</a:t>
            </a:r>
          </a:p>
          <a:p>
            <a:r>
              <a:rPr lang="en-US" dirty="0"/>
              <a:t>Cities with high success scores offer good opportunities for restaurant chains to expand or improve their presence.</a:t>
            </a:r>
          </a:p>
          <a:p>
            <a:endParaRPr lang="en-IN" dirty="0"/>
          </a:p>
        </p:txBody>
      </p:sp>
      <p:sp>
        <p:nvSpPr>
          <p:cNvPr id="4" name="Rectangle 3">
            <a:extLst>
              <a:ext uri="{FF2B5EF4-FFF2-40B4-BE49-F238E27FC236}">
                <a16:creationId xmlns:a16="http://schemas.microsoft.com/office/drawing/2014/main" id="{D9C79BAC-443B-7428-9AED-7BCFD9F00F3F}"/>
              </a:ext>
            </a:extLst>
          </p:cNvPr>
          <p:cNvSpPr/>
          <p:nvPr/>
        </p:nvSpPr>
        <p:spPr>
          <a:xfrm>
            <a:off x="629652" y="18256"/>
            <a:ext cx="10515600" cy="132556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6000" b="1" dirty="0">
                <a:latin typeface="Arial Rounded MT Bold" panose="020F0704030504030204" pitchFamily="34" charset="0"/>
              </a:rPr>
              <a:t>Recommendations</a:t>
            </a:r>
          </a:p>
        </p:txBody>
      </p:sp>
    </p:spTree>
    <p:extLst>
      <p:ext uri="{BB962C8B-B14F-4D97-AF65-F5344CB8AC3E}">
        <p14:creationId xmlns:p14="http://schemas.microsoft.com/office/powerpoint/2010/main" val="444698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911</Words>
  <Application>Microsoft Office PowerPoint</Application>
  <PresentationFormat>Widescreen</PresentationFormat>
  <Paragraphs>50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Arial Rounded MT Bold</vt:lpstr>
      <vt:lpstr>Calibri</vt:lpstr>
      <vt:lpstr>Calibri Light</vt:lpstr>
      <vt:lpstr>Office Theme</vt:lpstr>
      <vt:lpstr>PowerPoint Presentation</vt:lpstr>
      <vt:lpstr> </vt:lpstr>
      <vt:lpstr>Research Objectives</vt:lpstr>
      <vt:lpstr>Data Overview</vt:lpstr>
      <vt:lpstr>Analysis and Findings</vt:lpstr>
      <vt:lpstr>PowerPoint Presentation</vt:lpstr>
      <vt:lpstr>Do restaurants with higher engagement tend to have higher ratings?</vt:lpstr>
      <vt:lpstr>Is there any correlation between the number of reviews, tips, and check-ins for a business?</vt:lpstr>
      <vt:lpstr>Is there any difference in the user engagement between high-rated and low-rated businesses?</vt:lpstr>
      <vt:lpstr>Are there any patterns in user engagement over time for successful businesses compared tot less successful ones</vt:lpstr>
      <vt:lpstr>How does the sentiment of reviews and tips (useful, funny, cool) correlate with the success metrics of restaurants?</vt:lpstr>
      <vt:lpstr>Is there any difference in engagement of elite users and non elite users?</vt:lpstr>
      <vt:lpstr>Busiest Hours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Negi</dc:creator>
  <cp:lastModifiedBy>Karan Negi</cp:lastModifiedBy>
  <cp:revision>2</cp:revision>
  <dcterms:created xsi:type="dcterms:W3CDTF">2026-02-13T09:10:07Z</dcterms:created>
  <dcterms:modified xsi:type="dcterms:W3CDTF">2026-02-13T17:05:02Z</dcterms:modified>
</cp:coreProperties>
</file>